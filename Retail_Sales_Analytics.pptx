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</c:v>
                </c:pt>
                <c:pt idx="1">
                  <c:v>295</c:v>
                </c:pt>
                <c:pt idx="2">
                  <c:v>378</c:v>
                </c:pt>
                <c:pt idx="3">
                  <c:v>360</c:v>
                </c:pt>
                <c:pt idx="4">
                  <c:v>402</c:v>
                </c:pt>
                <c:pt idx="5">
                  <c:v>388</c:v>
                </c:pt>
                <c:pt idx="6">
                  <c:v>425</c:v>
                </c:pt>
                <c:pt idx="7">
                  <c:v>447</c:v>
                </c:pt>
                <c:pt idx="8">
                  <c:v>415</c:v>
                </c:pt>
                <c:pt idx="9">
                  <c:v>490</c:v>
                </c:pt>
                <c:pt idx="10">
                  <c:v>520</c:v>
                </c:pt>
                <c:pt idx="11">
                  <c:v>490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rgbClr val="CBD5E1"/>
            </a:solidFill>
            <a:ln w="3175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278</c:v>
                </c:pt>
                <c:pt idx="1">
                  <c:v>265</c:v>
                </c:pt>
                <c:pt idx="2">
                  <c:v>340</c:v>
                </c:pt>
                <c:pt idx="3">
                  <c:v>318</c:v>
                </c:pt>
                <c:pt idx="4">
                  <c:v>360</c:v>
                </c:pt>
                <c:pt idx="5">
                  <c:v>345</c:v>
                </c:pt>
                <c:pt idx="6">
                  <c:v>388</c:v>
                </c:pt>
                <c:pt idx="7">
                  <c:v>402</c:v>
                </c:pt>
                <c:pt idx="8">
                  <c:v>370</c:v>
                </c:pt>
                <c:pt idx="9">
                  <c:v>436</c:v>
                </c:pt>
                <c:pt idx="10">
                  <c:v>462</c:v>
                </c:pt>
                <c:pt idx="11">
                  <c:v>435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50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Apparel</c:v>
                  </c:pt>
                  <c:pt idx="2">
                    <c:v>Home &amp; Living</c:v>
                  </c:pt>
                  <c:pt idx="3">
                    <c:v>Groceries</c:v>
                  </c:pt>
                  <c:pt idx="4">
                    <c:v>Beauty</c:v>
                  </c:pt>
                  <c:pt idx="5">
                    <c:v>Sports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1420</c:v>
                </c:pt>
                <c:pt idx="1">
                  <c:v>980</c:v>
                </c:pt>
                <c:pt idx="2">
                  <c:v>740</c:v>
                </c:pt>
                <c:pt idx="3">
                  <c:v>610</c:v>
                </c:pt>
                <c:pt idx="4">
                  <c:v>480</c:v>
                </c:pt>
                <c:pt idx="5">
                  <c:v>590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South</c:v>
                </c:pt>
                <c:pt idx="2">
                  <c:v>North</c:v>
                </c:pt>
                <c:pt idx="3">
                  <c:v>East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1450</c:v>
                </c:pt>
                <c:pt idx="1">
                  <c:v>1120</c:v>
                </c:pt>
                <c:pt idx="2">
                  <c:v>890</c:v>
                </c:pt>
                <c:pt idx="3">
                  <c:v>740</c:v>
                </c:pt>
                <c:pt idx="4">
                  <c:v>620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Loyal (3+ orders)</c:v>
                </c:pt>
                <c:pt idx="1">
                  <c:v>Returning (2 orders)</c:v>
                </c:pt>
                <c:pt idx="2">
                  <c:v>New (1 order)</c:v>
                </c:pt>
                <c:pt idx="3">
                  <c:v>Lapsed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27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Age Distribution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32</c:v>
                </c:pt>
                <c:pt idx="2">
                  <c:v>28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2024</c:v>
                  </c:pt>
                  <c:pt idx="1">
                    <c:v>Q2 2024</c:v>
                  </c:pt>
                  <c:pt idx="2">
                    <c:v>Q3 2024</c:v>
                  </c:pt>
                  <c:pt idx="3">
                    <c:v>Q4 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580</c:v>
                </c:pt>
                <c:pt idx="2">
                  <c:v>640</c:v>
                </c:pt>
                <c:pt idx="3">
                  <c:v>720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2024</c:v>
                  </c:pt>
                  <c:pt idx="1">
                    <c:v>Q2 2024</c:v>
                  </c:pt>
                  <c:pt idx="2">
                    <c:v>Q3 2024</c:v>
                  </c:pt>
                  <c:pt idx="3">
                    <c:v>Q4 2024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680</c:v>
                </c:pt>
                <c:pt idx="1">
                  <c:v>640</c:v>
                </c:pt>
                <c:pt idx="2">
                  <c:v>660</c:v>
                </c:pt>
                <c:pt idx="3">
                  <c:v>640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Mobile App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2024</c:v>
                  </c:pt>
                  <c:pt idx="1">
                    <c:v>Q2 2024</c:v>
                  </c:pt>
                  <c:pt idx="2">
                    <c:v>Q3 2024</c:v>
                  </c:pt>
                  <c:pt idx="3">
                    <c:v>Q4 2024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180</c:v>
                </c:pt>
                <c:pt idx="1">
                  <c:v>220</c:v>
                </c:pt>
                <c:pt idx="2">
                  <c:v>280</c:v>
                </c:pt>
                <c:pt idx="3">
                  <c:v>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6" Type="http://schemas.openxmlformats.org/officeDocument/2006/relationships/chart" Target="/ppt/charts/chart5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5080">
              <a:alpha val="40000"/>
            </a:srgbClr>
          </a:solidFill>
          <a:ln w="12700">
            <a:solidFill>
              <a:srgbClr val="2A508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2A5080">
              <a:alpha val="45000"/>
            </a:srgbClr>
          </a:solidFill>
          <a:ln w="12700">
            <a:solidFill>
              <a:srgbClr val="2A508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BUSINESS ANALYTICS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Comprehensive analysis of sales trends, regional performance,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product insights &amp; strategic recommendations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36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FY 2024  |  Retail Analytics Division  | 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4736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Q4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430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197864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1865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$4.82M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84048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▲ +12.4% vs LY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77440" y="10058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377440" y="1005840"/>
            <a:ext cx="19202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7168" y="114300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197864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87168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Units Sold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487168" y="1865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184,320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2487168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▲ +8.7% vs LY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480560" y="10058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80560" y="100584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90288" y="11430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197864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90288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90288" y="1865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$261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4590288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▲ +3.2% vs LY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583680" y="10058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83680" y="100584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693408" y="11430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1197864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93408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Customers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693408" y="1865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12,840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6693408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▲ +15.1% vs LY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274320" y="2679192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0720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9808" y="2770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749808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38.4%</a:t>
            </a:r>
            <a:endParaRPr lang="en-US" sz="1700" dirty="0"/>
          </a:p>
        </p:txBody>
      </p:sp>
      <p:sp>
        <p:nvSpPr>
          <p:cNvPr id="38" name="Shape 31"/>
          <p:cNvSpPr/>
          <p:nvPr/>
        </p:nvSpPr>
        <p:spPr>
          <a:xfrm>
            <a:off x="2377440" y="2679192"/>
            <a:ext cx="19202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2807208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852928" y="2770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RETURN RATE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2852928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3.2%</a:t>
            </a:r>
            <a:endParaRPr lang="en-US" sz="1700" dirty="0"/>
          </a:p>
        </p:txBody>
      </p:sp>
      <p:sp>
        <p:nvSpPr>
          <p:cNvPr id="42" name="Shape 34"/>
          <p:cNvSpPr/>
          <p:nvPr/>
        </p:nvSpPr>
        <p:spPr>
          <a:xfrm>
            <a:off x="4480560" y="2679192"/>
            <a:ext cx="19202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2807208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956048" y="2770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TOP CATEGORY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956048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Electronics</a:t>
            </a:r>
            <a:endParaRPr lang="en-US" sz="1700" dirty="0"/>
          </a:p>
        </p:txBody>
      </p:sp>
      <p:sp>
        <p:nvSpPr>
          <p:cNvPr id="46" name="Shape 37"/>
          <p:cNvSpPr/>
          <p:nvPr/>
        </p:nvSpPr>
        <p:spPr>
          <a:xfrm>
            <a:off x="6583680" y="2679192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2807208"/>
            <a:ext cx="292608" cy="29260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059168" y="2770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TOP REGION</a:t>
            </a:r>
            <a:endParaRPr lang="en-US" sz="800" dirty="0"/>
          </a:p>
        </p:txBody>
      </p:sp>
      <p:sp>
        <p:nvSpPr>
          <p:cNvPr id="49" name="Text 39"/>
          <p:cNvSpPr/>
          <p:nvPr/>
        </p:nvSpPr>
        <p:spPr>
          <a:xfrm>
            <a:off x="7059168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West</a:t>
            </a:r>
            <a:endParaRPr lang="en-US" sz="1700" dirty="0"/>
          </a:p>
        </p:txBody>
      </p:sp>
      <p:sp>
        <p:nvSpPr>
          <p:cNvPr id="50" name="Shape 40"/>
          <p:cNvSpPr/>
          <p:nvPr/>
        </p:nvSpPr>
        <p:spPr>
          <a:xfrm>
            <a:off x="274320" y="3593592"/>
            <a:ext cx="859536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411480" y="36393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40AF"/>
                </a:solidFill>
              </a:rPr>
              <a:t>💡  Key Insight: Revenue growth of 12.4% exceeded the annual target of 10%, driven by a surge in Electronics and Apparel categories during the festive season.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MONTHLY REVENUE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760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96012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0" y="960120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014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November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6520" y="1234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$520K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46520" y="14904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Peak Month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828800"/>
            <a:ext cx="6400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883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February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46520" y="2103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$295K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46520" y="23591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Lowest Month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09360" y="269748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2697480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2752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$1.5M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46520" y="32278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Best Quarter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09360" y="356616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3566160"/>
            <a:ext cx="64008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3621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YoY Growth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4652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+12.4%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46520" y="40965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Annual Change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📈  Revenue consistently outperformed 2023 benchmarks, with Dec-Jan slight dip attributed to post-holiday slowdown. Q4 driven by festive promotions.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CATEGORY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GROSS MARGIN BY CATEGORY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53312"/>
          <a:ext cx="3108960" cy="3200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Electronics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Apparel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Home &amp; Living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Groceries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22%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Beauty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🏆  Electronics leads revenue at $1.42M (29.5% share). Beauty has the highest margin at 45%. Groceries has the lowest margin but consistent volume.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REGIONAL SALES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17720" y="9601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17720" y="96012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6592" y="11247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04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1024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West Region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85232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42 stores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223760" y="1024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$1.45M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1307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+18% YoY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18745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874520"/>
            <a:ext cx="6400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36592" y="20391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848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5232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South Region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285232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36 stores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22376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$1.12M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223760" y="2221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+10% YoY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17720" y="27889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7720" y="278892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36592" y="29535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9923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5232" y="2852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North Region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285232" y="3090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28 stores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22376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$0.89M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223760" y="3136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+8% YoY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17720" y="37033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17720" y="3703320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36592" y="3867912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13632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85232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East Region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285232" y="4005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24 stores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22376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$0.74M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22376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+6% YoY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📍  West region contributes 30.1% of total revenue with the highest growth rate of 18%. Expansion into Central region shows early-stage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CUSTOMER INSIGHTS &amp; 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43400" y="960120"/>
            <a:ext cx="4526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62272" y="10515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10642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0149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Avg. Purchase Frequency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0" y="12618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3.4x / year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343400" y="1737360"/>
            <a:ext cx="4526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62272" y="1828800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88366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17922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Lifetime Value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29200" y="20391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$886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343400" y="2514600"/>
            <a:ext cx="4526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62272" y="26060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66090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0" y="256946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Net Promoter Score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029200" y="28163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68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4343400" y="3291840"/>
            <a:ext cx="4526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62272" y="33832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343814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29200" y="334670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Repeat Purchase Rate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029200" y="35935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65%</a:t>
            </a:r>
            <a:endParaRPr lang="en-US" sz="18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4343400" y="4178808"/>
          <a:ext cx="452628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Shape 19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👥  25-34 age group is the largest segment (32%). Loyal customers drive 62% of revenue. Focus retention strategies on this high-value cohort.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PERFORMING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429000"/>
        </p:xfrm>
        <a:graphic>
          <a:graphicData uri="http://schemas.openxmlformats.org/drawingml/2006/table">
            <a:tbl>
              <a:tblPr/>
              <a:tblGrid>
                <a:gridCol w="411480"/>
                <a:gridCol w="2331720"/>
                <a:gridCol w="1371600"/>
                <a:gridCol w="109728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Smart TV 55"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Electronics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$348K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2,840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+22%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Running Shoes Pro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$286K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8,920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7F32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Coffee Maker Deluxe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Home &amp; Living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$224K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+19%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Winter Jacket XL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Apparel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$198K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6,240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+11%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Moisturizer SPF50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Beauty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$176K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11,200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+28%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Wireless Headphones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Electronics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$168K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3,360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+17%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⭐  Moisturizer SPF50 has the highest margin (48%) and growth (28%). Smart TV 55" leads in revenue. Focus premium inventory on high-margin, high-growth products.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CHANNEL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60120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960120"/>
            <a:ext cx="64008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08192" y="1124712"/>
            <a:ext cx="493776" cy="4937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795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3408" y="1033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In-Store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693408" y="1289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39%  share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93408" y="15453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Declining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89320" y="1892808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89320" y="1892808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08192" y="2057400"/>
            <a:ext cx="493776" cy="4937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1226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Online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693408" y="2221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37%  share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93408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Growing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989320" y="2825496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89320" y="282549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08192" y="299008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04495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93408" y="28986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693408" y="3154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14%  share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693408" y="34107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Fastest Growing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989320" y="3758184"/>
            <a:ext cx="2880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989320" y="3758184"/>
            <a:ext cx="64008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08192" y="3922776"/>
            <a:ext cx="493776" cy="49377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9776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93408" y="38313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Others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693408" y="4087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10%  share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693408" y="43434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Stable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📱  Mobile App grew 100% in 2024 and is the fastest-growing channel. Online overtook In-Store in Q4. Digital channels now represent 51% of total sales.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73152" cy="43662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88136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088136"/>
            <a:ext cx="74980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0972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051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Expand Digital Commerce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67335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Invest $400K in mobile app enhancements and online UX. Target 60% digital revenue share by Q3 2025.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64008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08813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521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088136"/>
            <a:ext cx="74980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0972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1051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Loyalty Program Enhancement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7335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Introduce tiered loyalty rewards. Loyal customers (38%) already drive 62% revenue — deepen engagement.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43200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7121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3522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2871216"/>
            <a:ext cx="74980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8803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28346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West Region Replication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4564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Apply West region's 18% growth playbook to Central region. Open 8 new stores in FY2025.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743200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74320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871216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3522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2871216"/>
            <a:ext cx="74980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28803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0" y="28346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High-Margin SKU Focus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4564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Prioritize Beauty &amp; Electronics inventory. Phase out low-margin Grocery SKUs below 18% margin.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416552"/>
            <a:ext cx="859536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4439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🎯  Combined execution of all 4 strategies projected to deliver $5.8M revenue (+20.3%) and 42% gross margin in FY2025. Prioritize digital and loyalty in H1.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2A5080">
              <a:alpha val="40000"/>
            </a:srgbClr>
          </a:solidFill>
          <a:ln w="12700">
            <a:solidFill>
              <a:srgbClr val="2A508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Retail Sales Analytics Dashboard  |  FY 2024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828800" cy="1005840"/>
          </a:xfrm>
          <a:prstGeom prst="rect">
            <a:avLst/>
          </a:prstGeom>
          <a:solidFill>
            <a:srgbClr val="2A5080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$4.82M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2331720"/>
            <a:ext cx="1828800" cy="1005840"/>
          </a:xfrm>
          <a:prstGeom prst="rect">
            <a:avLst/>
          </a:prstGeom>
          <a:solidFill>
            <a:srgbClr val="2A5080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+12.4%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3347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1828800" cy="1005840"/>
          </a:xfrm>
          <a:prstGeom prst="rect">
            <a:avLst/>
          </a:prstGeom>
          <a:solidFill>
            <a:srgbClr val="2A5080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0256" y="2331720"/>
            <a:ext cx="1828800" cy="1005840"/>
          </a:xfrm>
          <a:prstGeom prst="rect">
            <a:avLst/>
          </a:prstGeom>
          <a:solidFill>
            <a:srgbClr val="2A5080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20256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Regions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7772400" cy="274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For questions &amp; further analysis, contact the Analytics Division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© 2024 Retail Analytics Division  |  Confidential &amp; Proprietary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Dashboard</dc:title>
  <dc:subject>PptxGenJS Presentation</dc:subject>
  <dc:creator>PptxGenJS</dc:creator>
  <cp:lastModifiedBy>PptxGenJS</cp:lastModifiedBy>
  <cp:revision>1</cp:revision>
  <dcterms:created xsi:type="dcterms:W3CDTF">2026-06-04T10:14:51Z</dcterms:created>
  <dcterms:modified xsi:type="dcterms:W3CDTF">2026-06-04T10:14:51Z</dcterms:modified>
</cp:coreProperties>
</file>